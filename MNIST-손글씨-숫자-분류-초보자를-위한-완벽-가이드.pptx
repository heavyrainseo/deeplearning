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4888409"/>
            <a:ext cx="7429500" cy="1359991"/>
          </a:xfrm>
          <a:prstGeom prst="rect">
            <a:avLst/>
          </a:prstGeom>
          <a:ln/>
          <a:effectLst>
            <a:outerShdw sx="100000" sy="100000" kx="0" ky="0" algn="bl" rotWithShape="0" blurRad="304800" dist="38100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5355"/>
              </a:lnSpc>
              <a:buNone/>
            </a:pPr>
            <a:r>
              <a:rPr lang="en-US" sz="5100" b="1" spc="-10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컴퓨터에게</a:t>
            </a:r>
            <a:endParaRPr lang="en-US" sz="5100" dirty="0"/>
          </a:p>
          <a:p>
            <a:pPr algn="l" indent="0" marL="0">
              <a:lnSpc>
                <a:spcPts val="5355"/>
              </a:lnSpc>
              <a:buNone/>
            </a:pPr>
            <a:r>
              <a:rPr lang="en-US" sz="5100" b="1" spc="-10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숫자 읽는 법을 가르쳐요!</a:t>
            </a:r>
            <a:endParaRPr lang="en-US"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91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3182"/>
            <a:ext cx="3267075" cy="32385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90550" y="2208907"/>
            <a:ext cx="300037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FFFF"/>
                </a:solidFill>
                <a:highlight>
                  <a:srgbClr val="55635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SM-mnist.ipynb 전체 흐름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675632"/>
            <a:ext cx="3267075" cy="544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b="1" spc="-98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오늘 배울 내용</a:t>
            </a:r>
            <a:endParaRPr lang="en-US" sz="39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477518"/>
            <a:ext cx="3267075" cy="1257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75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AI가 손글씨를 배우는 과정을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75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6단계로 나누어 차근차근 살펴봐요.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75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대상: 인공지능을 처음 배우는 학생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75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도구: TensorFlow / Keras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191000" y="0"/>
            <a:ext cx="8001000" cy="6858000"/>
          </a:xfrm>
          <a:prstGeom prst="rect">
            <a:avLst/>
          </a:prstGeom>
          <a:solidFill>
            <a:srgbClr val="E8E7D8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09550"/>
            <a:ext cx="3771900" cy="2222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542925"/>
            <a:ext cx="266700" cy="2667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878586" y="592931"/>
            <a:ext cx="160139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4772025" y="933450"/>
            <a:ext cx="31432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MNIST란 무엇인가?</a:t>
            </a:r>
            <a:endParaRPr lang="en-US" sz="1350" dirty="0"/>
          </a:p>
        </p:txBody>
      </p:sp>
      <p:sp>
        <p:nvSpPr>
          <p:cNvPr id="12" name="Text 6"/>
          <p:cNvSpPr txBox="1"/>
          <p:nvPr/>
        </p:nvSpPr>
        <p:spPr>
          <a:xfrm>
            <a:off x="4772025" y="1266825"/>
            <a:ext cx="31432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28x28 흑백 숫자 70,000장, AI의 Hello World</a:t>
            </a:r>
            <a:endParaRPr lang="en-US" sz="975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09550"/>
            <a:ext cx="3771900" cy="222245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725" y="542925"/>
            <a:ext cx="266700" cy="2667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561933" y="592931"/>
            <a:ext cx="172492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16" name="Text 8"/>
          <p:cNvSpPr txBox="1"/>
          <p:nvPr/>
        </p:nvSpPr>
        <p:spPr>
          <a:xfrm>
            <a:off x="8467725" y="933450"/>
            <a:ext cx="31432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준비</a:t>
            </a:r>
            <a:endParaRPr lang="en-US" sz="1350" dirty="0"/>
          </a:p>
        </p:txBody>
      </p:sp>
      <p:sp>
        <p:nvSpPr>
          <p:cNvPr id="17" name="Text 9"/>
          <p:cNvSpPr txBox="1"/>
          <p:nvPr/>
        </p:nvSpPr>
        <p:spPr>
          <a:xfrm>
            <a:off x="8467725" y="1266825"/>
            <a:ext cx="31432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로드, 정규화(x/255), 시각화로 데이터 이해</a:t>
            </a:r>
            <a:endParaRPr lang="en-US" sz="975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0" y="2317700"/>
            <a:ext cx="3771900" cy="222245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025" y="2651075"/>
            <a:ext cx="266700" cy="2667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4865340" y="2701082"/>
            <a:ext cx="173385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21" name="Text 11"/>
          <p:cNvSpPr txBox="1"/>
          <p:nvPr/>
        </p:nvSpPr>
        <p:spPr>
          <a:xfrm>
            <a:off x="4772025" y="3041600"/>
            <a:ext cx="31432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모델 만들기</a:t>
            </a:r>
            <a:endParaRPr lang="en-US" sz="1350" dirty="0"/>
          </a:p>
        </p:txBody>
      </p:sp>
      <p:sp>
        <p:nvSpPr>
          <p:cNvPr id="22" name="Text 12"/>
          <p:cNvSpPr txBox="1"/>
          <p:nvPr/>
        </p:nvSpPr>
        <p:spPr>
          <a:xfrm>
            <a:off x="4772025" y="3374975"/>
            <a:ext cx="31432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 → Dense 128 → Dropout → Dense 10</a:t>
            </a:r>
            <a:endParaRPr lang="en-US" sz="975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3400" y="2317700"/>
            <a:ext cx="3771900" cy="222245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7725" y="2651075"/>
            <a:ext cx="266700" cy="26670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8559105" y="2701082"/>
            <a:ext cx="175320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75" dirty="0"/>
          </a:p>
        </p:txBody>
      </p:sp>
      <p:sp>
        <p:nvSpPr>
          <p:cNvPr id="26" name="Text 14"/>
          <p:cNvSpPr txBox="1"/>
          <p:nvPr/>
        </p:nvSpPr>
        <p:spPr>
          <a:xfrm>
            <a:off x="8467725" y="3041600"/>
            <a:ext cx="31432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똑똑하게 멈추기</a:t>
            </a:r>
            <a:endParaRPr lang="en-US" sz="1350" dirty="0"/>
          </a:p>
        </p:txBody>
      </p:sp>
      <p:sp>
        <p:nvSpPr>
          <p:cNvPr id="27" name="Text 15"/>
          <p:cNvSpPr txBox="1"/>
          <p:nvPr/>
        </p:nvSpPr>
        <p:spPr>
          <a:xfrm>
            <a:off x="8467725" y="3374975"/>
            <a:ext cx="31432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EarlyStopping으로 과적합 전에 자동 종료</a:t>
            </a:r>
            <a:endParaRPr lang="en-US" sz="975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4425851"/>
            <a:ext cx="3771900" cy="2222450"/>
          </a:xfrm>
          <a:prstGeom prst="rect">
            <a:avLst/>
          </a:prstGeom>
        </p:spPr>
      </p:pic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2025" y="4759226"/>
            <a:ext cx="266700" cy="26670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4866829" y="4809232"/>
            <a:ext cx="171896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75" dirty="0"/>
          </a:p>
        </p:txBody>
      </p:sp>
      <p:sp>
        <p:nvSpPr>
          <p:cNvPr id="31" name="Text 17"/>
          <p:cNvSpPr txBox="1"/>
          <p:nvPr/>
        </p:nvSpPr>
        <p:spPr>
          <a:xfrm>
            <a:off x="4772025" y="5149751"/>
            <a:ext cx="31432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학습과 평가</a:t>
            </a:r>
            <a:endParaRPr lang="en-US" sz="1350" dirty="0"/>
          </a:p>
        </p:txBody>
      </p:sp>
      <p:sp>
        <p:nvSpPr>
          <p:cNvPr id="32" name="Text 18"/>
          <p:cNvSpPr txBox="1"/>
          <p:nvPr/>
        </p:nvSpPr>
        <p:spPr>
          <a:xfrm>
            <a:off x="4772025" y="5483126"/>
            <a:ext cx="31432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model.fit &amp; evaluate로 학습 곡선 분석</a:t>
            </a:r>
            <a:endParaRPr lang="en-US" sz="975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3400" y="4425851"/>
            <a:ext cx="3771900" cy="2222450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67725" y="4759226"/>
            <a:ext cx="266700" cy="2667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8560743" y="4809232"/>
            <a:ext cx="173682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75" dirty="0"/>
          </a:p>
        </p:txBody>
      </p:sp>
      <p:sp>
        <p:nvSpPr>
          <p:cNvPr id="36" name="Text 20"/>
          <p:cNvSpPr txBox="1"/>
          <p:nvPr/>
        </p:nvSpPr>
        <p:spPr>
          <a:xfrm>
            <a:off x="8467725" y="5149751"/>
            <a:ext cx="31432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직접 실험해보기</a:t>
            </a:r>
            <a:endParaRPr lang="en-US" sz="1350" dirty="0"/>
          </a:p>
        </p:txBody>
      </p:sp>
      <p:sp>
        <p:nvSpPr>
          <p:cNvPr id="37" name="Text 21"/>
          <p:cNvSpPr txBox="1"/>
          <p:nvPr/>
        </p:nvSpPr>
        <p:spPr>
          <a:xfrm>
            <a:off x="8467725" y="5483126"/>
            <a:ext cx="31432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파라미터를 바꾸며 나만의 모델 만들기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381000"/>
            <a:ext cx="11201400" cy="4799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MNIST는 손글씨 숫자 사진 모음집이에요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962721"/>
            <a:ext cx="1900386" cy="66005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8175" y="3086546"/>
            <a:ext cx="1614636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28×28</a:t>
            </a:r>
            <a:endParaRPr lang="en-US" sz="1950" dirty="0"/>
          </a:p>
        </p:txBody>
      </p:sp>
      <p:sp>
        <p:nvSpPr>
          <p:cNvPr id="5" name="Text 2"/>
          <p:cNvSpPr txBox="1"/>
          <p:nvPr/>
        </p:nvSpPr>
        <p:spPr>
          <a:xfrm>
            <a:off x="638175" y="3362771"/>
            <a:ext cx="1614636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흑백 1채널 이미지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036" y="2962721"/>
            <a:ext cx="1900386" cy="66005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71911" y="3086546"/>
            <a:ext cx="1614636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70,000</a:t>
            </a:r>
            <a:endParaRPr lang="en-US" sz="1950" dirty="0"/>
          </a:p>
        </p:txBody>
      </p:sp>
      <p:sp>
        <p:nvSpPr>
          <p:cNvPr id="8" name="Text 4"/>
          <p:cNvSpPr txBox="1"/>
          <p:nvPr/>
        </p:nvSpPr>
        <p:spPr>
          <a:xfrm>
            <a:off x="2671911" y="3362771"/>
            <a:ext cx="1614636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60k 훈련 + 10k 테스트</a:t>
            </a:r>
            <a:endParaRPr lang="en-US" sz="825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773" y="2962721"/>
            <a:ext cx="1900386" cy="66005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5648" y="3086546"/>
            <a:ext cx="1614636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10개</a:t>
            </a:r>
            <a:endParaRPr lang="en-US" sz="1950" dirty="0"/>
          </a:p>
        </p:txBody>
      </p:sp>
      <p:sp>
        <p:nvSpPr>
          <p:cNvPr id="11" name="Text 6"/>
          <p:cNvSpPr txBox="1"/>
          <p:nvPr/>
        </p:nvSpPr>
        <p:spPr>
          <a:xfrm>
            <a:off x="4705648" y="3362771"/>
            <a:ext cx="1614636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0~9 숫자 클래스</a:t>
            </a:r>
            <a:endParaRPr lang="en-US" sz="825" dirty="0"/>
          </a:p>
        </p:txBody>
      </p:sp>
      <p:sp>
        <p:nvSpPr>
          <p:cNvPr id="12" name="Text 7"/>
          <p:cNvSpPr txBox="1"/>
          <p:nvPr/>
        </p:nvSpPr>
        <p:spPr>
          <a:xfrm>
            <a:off x="733425" y="3803749"/>
            <a:ext cx="5729734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학습의 "Hello World" – 가장 표준이 되는 데이터셋</a:t>
            </a:r>
            <a:endParaRPr lang="en-US" sz="1125" dirty="0"/>
          </a:p>
        </p:txBody>
      </p:sp>
      <p:sp>
        <p:nvSpPr>
          <p:cNvPr id="13" name="Text 8"/>
          <p:cNvSpPr txBox="1"/>
          <p:nvPr/>
        </p:nvSpPr>
        <p:spPr>
          <a:xfrm>
            <a:off x="733425" y="4079974"/>
            <a:ext cx="5729734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다양한 사람 필체 → 일반화 학습에 최적</a:t>
            </a:r>
            <a:endParaRPr lang="en-US" sz="1125" dirty="0"/>
          </a:p>
        </p:txBody>
      </p:sp>
      <p:sp>
        <p:nvSpPr>
          <p:cNvPr id="14" name="Text 9"/>
          <p:cNvSpPr txBox="1"/>
          <p:nvPr/>
        </p:nvSpPr>
        <p:spPr>
          <a:xfrm>
            <a:off x="733425" y="4356199"/>
            <a:ext cx="5729734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작고 깨끗해서 초보자도 바로 모델에 집중</a:t>
            </a:r>
            <a:endParaRPr lang="en-US" sz="112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959" y="1278136"/>
            <a:ext cx="4928741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381000"/>
            <a:ext cx="11201400" cy="4819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AI가 숫자를 배우는 5단계</a:t>
            </a:r>
            <a:endParaRPr lang="en-US" sz="345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1053405"/>
            <a:ext cx="1120140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→ 모델 → 학습 → 평가의 흐름을 한눈에 보면 코드가 쉬워져요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224855"/>
            <a:ext cx="11544300" cy="2266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615380"/>
            <a:ext cx="10839450" cy="15240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491805"/>
            <a:ext cx="2148780" cy="86960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85800" y="3634680"/>
            <a:ext cx="180588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825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3839468"/>
            <a:ext cx="180588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준비</a:t>
            </a:r>
            <a:endParaRPr lang="en-US" sz="11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068068"/>
            <a:ext cx="180588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&amp; Norm, 시각화로 확인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380" y="3491805"/>
            <a:ext cx="2148929" cy="86960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948880" y="3634680"/>
            <a:ext cx="180602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825" dirty="0"/>
          </a:p>
        </p:txBody>
      </p:sp>
      <p:sp>
        <p:nvSpPr>
          <p:cNvPr id="12" name="Text 6"/>
          <p:cNvSpPr txBox="1"/>
          <p:nvPr/>
        </p:nvSpPr>
        <p:spPr>
          <a:xfrm>
            <a:off x="2948880" y="3839468"/>
            <a:ext cx="1806029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모델 만들기</a:t>
            </a:r>
            <a:endParaRPr lang="en-US" sz="1125" dirty="0"/>
          </a:p>
        </p:txBody>
      </p:sp>
      <p:sp>
        <p:nvSpPr>
          <p:cNvPr id="13" name="Text 7"/>
          <p:cNvSpPr txBox="1"/>
          <p:nvPr/>
        </p:nvSpPr>
        <p:spPr>
          <a:xfrm>
            <a:off x="2948880" y="4068068"/>
            <a:ext cx="180602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 / Dense 레고 조립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610" y="3491805"/>
            <a:ext cx="2148780" cy="86960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212110" y="3634680"/>
            <a:ext cx="180588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825" dirty="0"/>
          </a:p>
        </p:txBody>
      </p:sp>
      <p:sp>
        <p:nvSpPr>
          <p:cNvPr id="16" name="Text 9"/>
          <p:cNvSpPr txBox="1"/>
          <p:nvPr/>
        </p:nvSpPr>
        <p:spPr>
          <a:xfrm>
            <a:off x="5212110" y="3839468"/>
            <a:ext cx="180588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EarlyStopping 설정</a:t>
            </a:r>
            <a:endParaRPr lang="en-US" sz="1125" dirty="0"/>
          </a:p>
        </p:txBody>
      </p:sp>
      <p:sp>
        <p:nvSpPr>
          <p:cNvPr id="17" name="Text 10"/>
          <p:cNvSpPr txBox="1"/>
          <p:nvPr/>
        </p:nvSpPr>
        <p:spPr>
          <a:xfrm>
            <a:off x="5212110" y="4068068"/>
            <a:ext cx="180588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똑똑한 종료 조건 만들기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4690" y="3491805"/>
            <a:ext cx="2148929" cy="869603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475190" y="3634680"/>
            <a:ext cx="180602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825" dirty="0"/>
          </a:p>
        </p:txBody>
      </p:sp>
      <p:sp>
        <p:nvSpPr>
          <p:cNvPr id="20" name="Text 12"/>
          <p:cNvSpPr txBox="1"/>
          <p:nvPr/>
        </p:nvSpPr>
        <p:spPr>
          <a:xfrm>
            <a:off x="7475190" y="3839468"/>
            <a:ext cx="1806029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</a:t>
            </a:r>
            <a:endParaRPr lang="en-US" sz="1125" dirty="0"/>
          </a:p>
        </p:txBody>
      </p:sp>
      <p:sp>
        <p:nvSpPr>
          <p:cNvPr id="21" name="Text 13"/>
          <p:cNvSpPr txBox="1"/>
          <p:nvPr/>
        </p:nvSpPr>
        <p:spPr>
          <a:xfrm>
            <a:off x="7475190" y="4068068"/>
            <a:ext cx="180602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model.fit + 곡선 분석</a:t>
            </a:r>
            <a:endParaRPr lang="en-US" sz="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7920" y="3491805"/>
            <a:ext cx="2148780" cy="86960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738420" y="3634680"/>
            <a:ext cx="180588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825" dirty="0"/>
          </a:p>
        </p:txBody>
      </p:sp>
      <p:sp>
        <p:nvSpPr>
          <p:cNvPr id="24" name="Text 15"/>
          <p:cNvSpPr txBox="1"/>
          <p:nvPr/>
        </p:nvSpPr>
        <p:spPr>
          <a:xfrm>
            <a:off x="9738420" y="3839468"/>
            <a:ext cx="180588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평가</a:t>
            </a:r>
            <a:endParaRPr lang="en-US" sz="1125" dirty="0"/>
          </a:p>
        </p:txBody>
      </p:sp>
      <p:sp>
        <p:nvSpPr>
          <p:cNvPr id="25" name="Text 16"/>
          <p:cNvSpPr txBox="1"/>
          <p:nvPr/>
        </p:nvSpPr>
        <p:spPr>
          <a:xfrm>
            <a:off x="9738420" y="4068068"/>
            <a:ext cx="180588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model.evaluate 최종 점수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4512915" y="4561433"/>
            <a:ext cx="718378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흐름: x_train → model → fit → val_loss 확인 → test 평가</a:t>
            </a:r>
            <a:endParaRPr lang="en-US" sz="975" dirty="0"/>
          </a:p>
        </p:txBody>
      </p:sp>
      <p:sp>
        <p:nvSpPr>
          <p:cNvPr id="27" name="Text 18"/>
          <p:cNvSpPr txBox="1"/>
          <p:nvPr/>
        </p:nvSpPr>
        <p:spPr>
          <a:xfrm>
            <a:off x="4152900" y="4638675"/>
            <a:ext cx="266700" cy="9525"/>
          </a:xfrm>
          <a:prstGeom prst="rect">
            <a:avLst/>
          </a:prstGeom>
          <a:solidFill>
            <a:srgbClr val="55635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9"/>
          <p:cNvSpPr txBox="1"/>
          <p:nvPr/>
        </p:nvSpPr>
        <p:spPr>
          <a:xfrm>
            <a:off x="7772400" y="4638675"/>
            <a:ext cx="266700" cy="9525"/>
          </a:xfrm>
          <a:prstGeom prst="rect">
            <a:avLst/>
          </a:prstGeom>
          <a:solidFill>
            <a:srgbClr val="55635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1332161"/>
            <a:ext cx="6153894" cy="1000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spc="-94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60,000장의</a:t>
            </a:r>
            <a:endParaRPr lang="en-US" sz="3750" dirty="0"/>
          </a:p>
          <a:p>
            <a:pPr algn="l" indent="0" marL="0">
              <a:lnSpc>
                <a:spcPts val="3938"/>
              </a:lnSpc>
              <a:buNone/>
            </a:pPr>
            <a:r>
              <a:rPr lang="en-US" sz="3750" b="1" spc="-94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문제집을 가져와요</a:t>
            </a:r>
            <a:endParaRPr lang="en-US" sz="375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2522786"/>
            <a:ext cx="6153894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92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TensorFlow가 제공하는 한 줄 코드로 훈련/테스트가 자동 분리됩니다.</a:t>
            </a:r>
            <a:endParaRPr lang="en-US" sz="12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918073"/>
            <a:ext cx="6153894" cy="9048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6750" y="3089523"/>
            <a:ext cx="5810994" cy="581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9C6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tensorflow </a:t>
            </a:r>
            <a:pPr indent="0" marL="0">
              <a:buNone/>
            </a:pPr>
            <a:r>
              <a:rPr lang="en-US" sz="1050" dirty="0">
                <a:solidFill>
                  <a:srgbClr val="9C6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</a:t>
            </a:r>
            <a:pPr indent="0" marL="0"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pPr indent="0" marL="0">
              <a:buNone/>
            </a:pPr>
            <a:r>
              <a:rPr lang="en-US" sz="1050" dirty="0">
                <a:solidFill>
                  <a:srgbClr val="D6B8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x_train</a:t>
            </a:r>
            <a:pPr indent="0" marL="0"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D6B8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y_train</a:t>
            </a:r>
            <a:pPr indent="0" marL="0"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(</a:t>
            </a:r>
            <a:pPr indent="0" marL="0">
              <a:buNone/>
            </a:pPr>
            <a:r>
              <a:rPr lang="en-US" sz="1050" dirty="0">
                <a:solidFill>
                  <a:srgbClr val="D6B8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x_test</a:t>
            </a:r>
            <a:pPr indent="0" marL="0"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D6B8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y_test</a:t>
            </a:r>
            <a:pPr indent="0" marL="0"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=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tf.keras.datasets.mnist.</a:t>
            </a:r>
            <a:pPr indent="0" marL="0">
              <a:buNone/>
            </a:pPr>
            <a:r>
              <a:rPr lang="en-US" sz="1050" dirty="0">
                <a:solidFill>
                  <a:srgbClr val="9CC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load_data</a:t>
            </a:r>
            <a:pPr indent="0" marL="0">
              <a:buNone/>
            </a:pPr>
            <a:r>
              <a:rPr lang="en-US" sz="1050" dirty="0">
                <a:solidFill>
                  <a:srgbClr val="E9E5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() 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032498"/>
            <a:ext cx="3019723" cy="88195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8175" y="4184898"/>
            <a:ext cx="2733973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x_train: 60k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38175" y="4518273"/>
            <a:ext cx="2733973" cy="2723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28×28 이미지</a:t>
            </a:r>
            <a:endParaRPr lang="en-US" sz="825" dirty="0"/>
          </a:p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학습용 문제지</a:t>
            </a:r>
            <a:endParaRPr lang="en-US" sz="825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323" y="4032498"/>
            <a:ext cx="3019871" cy="88195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772198" y="4184898"/>
            <a:ext cx="2734121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x_test: 10k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3772198" y="4518273"/>
            <a:ext cx="2734121" cy="2723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28×28 이미지</a:t>
            </a:r>
            <a:endParaRPr lang="en-US" sz="825" dirty="0"/>
          </a:p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처음 보는 시험지</a:t>
            </a:r>
            <a:endParaRPr lang="en-US" sz="825" dirty="0"/>
          </a:p>
        </p:txBody>
      </p:sp>
      <p:sp>
        <p:nvSpPr>
          <p:cNvPr id="12" name="Text 7"/>
          <p:cNvSpPr txBox="1"/>
          <p:nvPr/>
        </p:nvSpPr>
        <p:spPr>
          <a:xfrm>
            <a:off x="634752" y="5095429"/>
            <a:ext cx="6014442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y_train / y_test는 정답 라벨 (0~9 숫자)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34752" y="5348734"/>
            <a:ext cx="6014442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바로 Numpy 배열 → 모델에 넣을 준비 완료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694" y="1092547"/>
            <a:ext cx="5009406" cy="4672905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969" y="1425922"/>
            <a:ext cx="4418856" cy="20955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134969" y="3683347"/>
            <a:ext cx="4418707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22292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&amp; Norm 단계 – 데이터가 가장 먼저 시작되는 곳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292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이후 Flatten/Dense로 이어집니다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969" y="4060478"/>
            <a:ext cx="2161729" cy="63817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258794" y="4174778"/>
            <a:ext cx="191407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x_train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7827020" y="4422428"/>
            <a:ext cx="7776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(60000, 28, 28)</a:t>
            </a:r>
            <a:endParaRPr lang="en-US" sz="825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1948" y="4060478"/>
            <a:ext cx="2161877" cy="63817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515773" y="4174778"/>
            <a:ext cx="191407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y_train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10141148" y="4422428"/>
            <a:ext cx="6633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(60000,) 0~9</a:t>
            </a:r>
            <a:endParaRPr lang="en-US" sz="82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4969" y="4793903"/>
            <a:ext cx="2161729" cy="63817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258794" y="4908203"/>
            <a:ext cx="191393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x_test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7838182" y="5155853"/>
            <a:ext cx="75530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(10000, 28, 28)</a:t>
            </a:r>
            <a:endParaRPr lang="en-US" sz="825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1948" y="4793903"/>
            <a:ext cx="2161877" cy="63817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9515773" y="4908203"/>
            <a:ext cx="191422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y_test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10152459" y="5155853"/>
            <a:ext cx="64085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(10000,) 0~9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790254"/>
            <a:ext cx="5387280" cy="4609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spc="-82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0~255를 0~1로 바꾸는 마법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441674"/>
            <a:ext cx="5387280" cy="4762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5325" y="2584549"/>
            <a:ext cx="506343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x_train = x_train / 255.0 # 정규화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127474"/>
            <a:ext cx="304800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6927" y="3198912"/>
            <a:ext cx="181273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952500" y="3136999"/>
            <a:ext cx="341307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계산이 빨라져요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작은 숫자로 곱셈·덧셈이 가볍고 안정적</a:t>
            </a:r>
            <a:endParaRPr lang="en-US" sz="112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46574"/>
            <a:ext cx="304800" cy="3048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3682" y="3618012"/>
            <a:ext cx="194518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52500" y="3556099"/>
            <a:ext cx="3453259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학습이 안정돼요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기울기 폭발 방지, 경사가 부드럽게 감소</a:t>
            </a:r>
            <a:endParaRPr lang="en-US" sz="112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65674"/>
            <a:ext cx="304800" cy="3048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42640" y="4037112"/>
            <a:ext cx="195560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952500" y="3975199"/>
            <a:ext cx="348615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픽셀이 같은 무게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0~255 그대로면 밝은 곳에만 집중</a:t>
            </a:r>
            <a:endParaRPr lang="en-US" sz="1125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499074"/>
            <a:ext cx="5387280" cy="62567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23900" y="4641949"/>
            <a:ext cx="504438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비유: 키를 cm 대신 m로 바꾸면 비교가 쉬워지듯, 픽셀도 0~1로 맞추면 AI가 특징을 공정하게 비교해요.</a:t>
            </a:r>
            <a:endParaRPr lang="en-US" sz="97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780" y="0"/>
            <a:ext cx="5852220" cy="685800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805" y="1930598"/>
            <a:ext cx="5461695" cy="2996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342900"/>
            <a:ext cx="11201400" cy="4600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내 눈으로 데이터 확인하기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2612380"/>
            <a:ext cx="5295900" cy="59412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8175" y="2745730"/>
            <a:ext cx="5010150" cy="33694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plt.imshow(x_train[0], cmap='gray')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print(f"정답: {y_train[0]}")</a:t>
            </a:r>
            <a:endParaRPr lang="en-US" sz="975" dirty="0"/>
          </a:p>
        </p:txBody>
      </p:sp>
      <p:sp>
        <p:nvSpPr>
          <p:cNvPr id="5" name="Text 2"/>
          <p:cNvSpPr txBox="1"/>
          <p:nvPr/>
        </p:nvSpPr>
        <p:spPr>
          <a:xfrm>
            <a:off x="688181" y="3387477"/>
            <a:ext cx="5103019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랜덤으로 6개 뽑아 실제 모양과 라벨(y) 일치 확인</a:t>
            </a:r>
            <a:endParaRPr lang="en-US" sz="1125" dirty="0"/>
          </a:p>
        </p:txBody>
      </p:sp>
      <p:sp>
        <p:nvSpPr>
          <p:cNvPr id="6" name="Text 3"/>
          <p:cNvSpPr txBox="1"/>
          <p:nvPr/>
        </p:nvSpPr>
        <p:spPr>
          <a:xfrm>
            <a:off x="688181" y="3673227"/>
            <a:ext cx="5103019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숫자가 찌그러지거나 잘렸는지, 배경 노이즈는 없는지 검증</a:t>
            </a:r>
            <a:endParaRPr lang="en-US" sz="1125" dirty="0"/>
          </a:p>
        </p:txBody>
      </p:sp>
      <p:sp>
        <p:nvSpPr>
          <p:cNvPr id="7" name="Text 4"/>
          <p:cNvSpPr txBox="1"/>
          <p:nvPr/>
        </p:nvSpPr>
        <p:spPr>
          <a:xfrm>
            <a:off x="688181" y="3958977"/>
            <a:ext cx="5103019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데이터를 보는 습관은 모든 AI 프로젝트의 기본 예절</a:t>
            </a:r>
            <a:endParaRPr lang="en-US" sz="112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320927"/>
            <a:ext cx="5295900" cy="5369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7225" y="4425702"/>
            <a:ext cx="5000625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C6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왜 중요할까?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코드만 믿으면 데이터 오류를 못 봐요. 눈으로 확인해야 모델이 왜 틀리는지 감이 생깁니다.</a:t>
            </a:r>
            <a:endParaRPr lang="en-US" sz="97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1599158"/>
            <a:ext cx="5943600" cy="427196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913483"/>
            <a:ext cx="5391150" cy="34290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200775" y="5409158"/>
            <a:ext cx="53910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label: 3, 9, 7 ... 실제 MNIST 샘플을 랜덤으로 시각화한 예시 (imshow)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419100"/>
            <a:ext cx="4808339" cy="4819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Sequential: 레고 블록 쌓기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089" y="517178"/>
            <a:ext cx="1229916" cy="2857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89389" y="583853"/>
            <a:ext cx="100131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2단계 – 모델 만들기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335262"/>
            <a:ext cx="5295900" cy="140017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76275" y="2487662"/>
            <a:ext cx="4972050" cy="11049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= tf.keras.Sequential([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Flatten(input_shape=(28,28)),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Dense(</a:t>
            </a:r>
            <a:pPr indent="0" marL="0">
              <a:buNone/>
            </a:pPr>
            <a:r>
              <a:rPr lang="en-US" sz="975" b="1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</a:t>
            </a:r>
            <a:pPr indent="0" marL="0"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activation='relu'),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Dropout(</a:t>
            </a:r>
            <a:pPr indent="0" marL="0">
              <a:buNone/>
            </a:pPr>
            <a:r>
              <a:rPr lang="en-US" sz="975" b="1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</a:t>
            </a:r>
            <a:pPr indent="0" marL="0"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Dense(</a:t>
            </a:r>
            <a:pPr indent="0" marL="0">
              <a:buNone/>
            </a:pPr>
            <a:r>
              <a:rPr lang="en-US" sz="975" b="1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pPr indent="0" marL="0"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activation='softmax')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])</a:t>
            </a:r>
            <a:endParaRPr lang="en-US" sz="97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906887"/>
            <a:ext cx="887313" cy="3048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9125" y="3983087"/>
            <a:ext cx="67776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22A24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Input 28×28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1476375" y="4048125"/>
            <a:ext cx="171450" cy="19050"/>
          </a:xfrm>
          <a:prstGeom prst="rect">
            <a:avLst/>
          </a:prstGeom>
          <a:solidFill>
            <a:srgbClr val="9C6A3A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1611213" y="4021187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513" y="3906887"/>
            <a:ext cx="831056" cy="3048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830288" y="3983087"/>
            <a:ext cx="62150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22A24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Flatten 784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2628900" y="4048125"/>
            <a:ext cx="171450" cy="19050"/>
          </a:xfrm>
          <a:prstGeom prst="rect">
            <a:avLst/>
          </a:prstGeom>
          <a:solidFill>
            <a:srgbClr val="9C6A3A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2766120" y="4021187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420" y="3906887"/>
            <a:ext cx="781496" cy="3048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985195" y="3983087"/>
            <a:ext cx="57194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22A24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Dense 128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3733800" y="4048125"/>
            <a:ext cx="171450" cy="19050"/>
          </a:xfrm>
          <a:prstGeom prst="rect">
            <a:avLst/>
          </a:prstGeom>
          <a:solidFill>
            <a:srgbClr val="9C6A3A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3871466" y="4021187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5766" y="3906887"/>
            <a:ext cx="655886" cy="3048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090541" y="3983087"/>
            <a:ext cx="44633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22A24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Dropout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4714875" y="4048125"/>
            <a:ext cx="171450" cy="19050"/>
          </a:xfrm>
          <a:prstGeom prst="rect">
            <a:avLst/>
          </a:prstGeom>
          <a:solidFill>
            <a:srgbClr val="9C6A3A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4851202" y="4021187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502" y="3906887"/>
            <a:ext cx="742057" cy="3048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070277" y="3983087"/>
            <a:ext cx="53250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22A24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Output 10</a:t>
            </a:r>
            <a:endParaRPr lang="en-US" sz="900" dirty="0"/>
          </a:p>
        </p:txBody>
      </p:sp>
      <p:sp>
        <p:nvSpPr>
          <p:cNvPr id="25" name="Text 16"/>
          <p:cNvSpPr txBox="1"/>
          <p:nvPr/>
        </p:nvSpPr>
        <p:spPr>
          <a:xfrm>
            <a:off x="666601" y="4392662"/>
            <a:ext cx="5143649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Sequential은 층을 차례대로 쌓는 가장 쉬운 방법</a:t>
            </a:r>
            <a:endParaRPr lang="en-US" sz="1125" dirty="0"/>
          </a:p>
        </p:txBody>
      </p:sp>
      <p:sp>
        <p:nvSpPr>
          <p:cNvPr id="26" name="Text 17"/>
          <p:cNvSpPr txBox="1"/>
          <p:nvPr/>
        </p:nvSpPr>
        <p:spPr>
          <a:xfrm>
            <a:off x="666601" y="4685556"/>
            <a:ext cx="5143649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총 3개 학습 층으로 간단하지만 97% 이상 정확도</a:t>
            </a:r>
            <a:endParaRPr lang="en-US" sz="1125" dirty="0"/>
          </a:p>
        </p:txBody>
      </p:sp>
      <p:sp>
        <p:nvSpPr>
          <p:cNvPr id="27" name="Text 18"/>
          <p:cNvSpPr txBox="1"/>
          <p:nvPr/>
        </p:nvSpPr>
        <p:spPr>
          <a:xfrm>
            <a:off x="666601" y="4978450"/>
            <a:ext cx="5143649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초보자가 가장 먼저 배워야 할 표준 구조예요</a:t>
            </a:r>
            <a:endParaRPr lang="en-US" sz="1125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0" y="1647081"/>
            <a:ext cx="5962650" cy="4217194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925" y="2037606"/>
            <a:ext cx="5257800" cy="306853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257925" y="5201394"/>
            <a:ext cx="5257800" cy="2723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 → Dense 128 + relu → Dropout 0.2 → Output 10 softmax</a:t>
            </a:r>
            <a:endParaRPr lang="en-US" sz="825" dirty="0"/>
          </a:p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이미지를 펼쳐서 특징을 배우고 확률로 출력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19100"/>
            <a:ext cx="11201400" cy="4600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Flatten, Dense, Dropout이 뭐예요?</a:t>
            </a:r>
            <a:endParaRPr lang="en-US" sz="345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907703"/>
            <a:ext cx="11201400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50"/>
              </a:spcBef>
              <a:buNone/>
            </a:pPr>
            <a:r>
              <a:rPr lang="en-US" sz="112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층은 역할이 뚜렷한 레고 블록 – 하나씩 이해하면 전체가 쉬워져요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122015"/>
            <a:ext cx="2990850" cy="55550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4825" y="1312515"/>
            <a:ext cx="266700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503015"/>
            <a:ext cx="361950" cy="3619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2453" y="1588740"/>
            <a:ext cx="225772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33475" y="1511052"/>
            <a:ext cx="734616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133475" y="1709142"/>
            <a:ext cx="73461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28×28 → 784</a:t>
            </a:r>
            <a:endParaRPr lang="en-US" sz="825" dirty="0"/>
          </a:p>
        </p:txBody>
      </p:sp>
      <p:sp>
        <p:nvSpPr>
          <p:cNvPr id="10" name="Text 6"/>
          <p:cNvSpPr txBox="1"/>
          <p:nvPr/>
        </p:nvSpPr>
        <p:spPr>
          <a:xfrm>
            <a:off x="676275" y="2007840"/>
            <a:ext cx="2324100" cy="3631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50"/>
              </a:spcBef>
              <a:buNone/>
            </a:pPr>
            <a:r>
              <a:rPr lang="en-US" sz="1013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2차원 이미지를 1차원 긴 줄로 펼쳐요. AI가 숫자를 한 줄씩 읽을 수 있게 준비.</a:t>
            </a:r>
            <a:endParaRPr lang="en-US" sz="101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5952232"/>
            <a:ext cx="2324100" cy="3437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9625" y="6057007"/>
            <a:ext cx="2076450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27299"/>
              </a:spcBef>
              <a:buNone/>
            </a:pPr>
            <a:r>
              <a:rPr lang="en-US" sz="863" dirty="0">
                <a:solidFill>
                  <a:srgbClr val="21292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📖 비유: 책을 펼쳐서 한 장으로 만드는 것</a:t>
            </a:r>
            <a:endParaRPr lang="en-US" sz="863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350" y="1122015"/>
            <a:ext cx="2990850" cy="555501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343275" y="1312515"/>
            <a:ext cx="266700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725" y="1503015"/>
            <a:ext cx="361950" cy="36195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640634" y="1588740"/>
            <a:ext cx="236041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3971925" y="1511052"/>
            <a:ext cx="864989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128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3971925" y="1709142"/>
            <a:ext cx="86498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RELU 활성화</a:t>
            </a:r>
            <a:endParaRPr lang="en-US" sz="825" dirty="0"/>
          </a:p>
        </p:txBody>
      </p:sp>
      <p:sp>
        <p:nvSpPr>
          <p:cNvPr id="19" name="Text 12"/>
          <p:cNvSpPr txBox="1"/>
          <p:nvPr/>
        </p:nvSpPr>
        <p:spPr>
          <a:xfrm>
            <a:off x="3514725" y="2007840"/>
            <a:ext cx="2324100" cy="3631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50"/>
              </a:spcBef>
              <a:buNone/>
            </a:pPr>
            <a:r>
              <a:rPr lang="en-US" sz="1013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128개 뉴런이 선, 곡선, 끝점 등 특징을 조합해요. relu로 필요한 것만 통과.</a:t>
            </a:r>
            <a:endParaRPr lang="en-US" sz="1013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4725" y="5952232"/>
            <a:ext cx="2324100" cy="343793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648075" y="6057007"/>
            <a:ext cx="2076450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27299"/>
              </a:spcBef>
              <a:buNone/>
            </a:pPr>
            <a:r>
              <a:rPr lang="en-US" sz="863" dirty="0">
                <a:solidFill>
                  <a:srgbClr val="21292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 비유: 128명의 전문가가 각자 특징을 메모</a:t>
            </a:r>
            <a:endParaRPr lang="en-US" sz="86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1122015"/>
            <a:ext cx="2990850" cy="555501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181725" y="1312515"/>
            <a:ext cx="266700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1503015"/>
            <a:ext cx="361950" cy="36195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456759" y="1588740"/>
            <a:ext cx="258366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6810375" y="1511052"/>
            <a:ext cx="993874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0.2</a:t>
            </a:r>
            <a:endParaRPr lang="en-US" sz="1350" dirty="0"/>
          </a:p>
        </p:txBody>
      </p:sp>
      <p:sp>
        <p:nvSpPr>
          <p:cNvPr id="27" name="Text 17"/>
          <p:cNvSpPr txBox="1"/>
          <p:nvPr/>
        </p:nvSpPr>
        <p:spPr>
          <a:xfrm>
            <a:off x="6810375" y="1709142"/>
            <a:ext cx="99387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과적합 방지</a:t>
            </a:r>
            <a:endParaRPr lang="en-US" sz="825" dirty="0"/>
          </a:p>
        </p:txBody>
      </p:sp>
      <p:sp>
        <p:nvSpPr>
          <p:cNvPr id="28" name="Text 18"/>
          <p:cNvSpPr txBox="1"/>
          <p:nvPr/>
        </p:nvSpPr>
        <p:spPr>
          <a:xfrm>
            <a:off x="6353175" y="2007840"/>
            <a:ext cx="2324100" cy="3631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50"/>
              </a:spcBef>
              <a:buNone/>
            </a:pPr>
            <a:r>
              <a:rPr lang="en-US" sz="1013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때마다 뉴런 20%를 랜덤으로 꺼요. 특정 뉴런에만 의존하지 않게 훈련.</a:t>
            </a:r>
            <a:endParaRPr lang="en-US" sz="1013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175" y="5952232"/>
            <a:ext cx="2324100" cy="343793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486525" y="6057007"/>
            <a:ext cx="2076450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27299"/>
              </a:spcBef>
              <a:buNone/>
            </a:pPr>
            <a:r>
              <a:rPr lang="en-US" sz="863" dirty="0">
                <a:solidFill>
                  <a:srgbClr val="21292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💉 비유: 20% 빼고 공부 → 더 튼튼한 면역</a:t>
            </a:r>
            <a:endParaRPr lang="en-US" sz="863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122015"/>
            <a:ext cx="2990850" cy="555501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9020175" y="1312515"/>
            <a:ext cx="266700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625" y="1503015"/>
            <a:ext cx="361950" cy="36195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9288363" y="1588740"/>
            <a:ext cx="265212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22"/>
          <p:cNvSpPr txBox="1"/>
          <p:nvPr/>
        </p:nvSpPr>
        <p:spPr>
          <a:xfrm>
            <a:off x="9648825" y="1511052"/>
            <a:ext cx="788938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10</a:t>
            </a:r>
            <a:endParaRPr lang="en-US" sz="1350" dirty="0"/>
          </a:p>
        </p:txBody>
      </p:sp>
      <p:sp>
        <p:nvSpPr>
          <p:cNvPr id="36" name="Text 23"/>
          <p:cNvSpPr txBox="1"/>
          <p:nvPr/>
        </p:nvSpPr>
        <p:spPr>
          <a:xfrm>
            <a:off x="9648825" y="1709142"/>
            <a:ext cx="7889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SOFTMAX 출력</a:t>
            </a:r>
            <a:endParaRPr lang="en-US" sz="825" dirty="0"/>
          </a:p>
        </p:txBody>
      </p:sp>
      <p:sp>
        <p:nvSpPr>
          <p:cNvPr id="37" name="Text 24"/>
          <p:cNvSpPr txBox="1"/>
          <p:nvPr/>
        </p:nvSpPr>
        <p:spPr>
          <a:xfrm>
            <a:off x="9191625" y="2007840"/>
            <a:ext cx="2324100" cy="3631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50"/>
              </a:spcBef>
              <a:buNone/>
            </a:pPr>
            <a:r>
              <a:rPr lang="en-US" sz="1013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0~9 각각의 확률을 출력해요. 가장 높은 확률이 모델의 답.</a:t>
            </a:r>
            <a:endParaRPr lang="en-US" sz="1013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1625" y="5952232"/>
            <a:ext cx="2324100" cy="343793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9324975" y="6057007"/>
            <a:ext cx="2076450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27299"/>
              </a:spcBef>
              <a:buNone/>
            </a:pPr>
            <a:r>
              <a:rPr lang="en-US" sz="863" dirty="0">
                <a:solidFill>
                  <a:srgbClr val="212924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비유: 10개의 답안 중 확률로 고르기</a:t>
            </a:r>
            <a:endParaRPr lang="en-US" sz="86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400050"/>
            <a:ext cx="11163300" cy="4600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외우기만 하는 AI vs 이해하는 AI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2472928"/>
            <a:ext cx="2897535" cy="8114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2606278"/>
            <a:ext cx="258321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41" kern="0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OVERFITTING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792016"/>
            <a:ext cx="258321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300"/>
              </a:spcBef>
              <a:buNone/>
            </a:pPr>
            <a:r>
              <a:rPr lang="en-US" sz="127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99% / Test 75%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024336"/>
            <a:ext cx="2583210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훈련만 잘하고 새로운 문제는 못 품</a:t>
            </a:r>
            <a:endParaRPr lang="en-US" sz="82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185" y="2472928"/>
            <a:ext cx="2897535" cy="8114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97635" y="2606278"/>
            <a:ext cx="258321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41" kern="0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DROPOUT 0.2</a:t>
            </a:r>
            <a:endParaRPr lang="en-US" sz="825" dirty="0"/>
          </a:p>
        </p:txBody>
      </p:sp>
      <p:sp>
        <p:nvSpPr>
          <p:cNvPr id="9" name="Text 5"/>
          <p:cNvSpPr txBox="1"/>
          <p:nvPr/>
        </p:nvSpPr>
        <p:spPr>
          <a:xfrm>
            <a:off x="3697635" y="2792016"/>
            <a:ext cx="258321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300"/>
              </a:spcBef>
              <a:buNone/>
            </a:pPr>
            <a:r>
              <a:rPr lang="en-US" sz="127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96% / Test 97%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3697635" y="3024336"/>
            <a:ext cx="2583210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균형 잡힌 일반화 학습</a:t>
            </a:r>
            <a:endParaRPr lang="en-US" sz="825" dirty="0"/>
          </a:p>
        </p:txBody>
      </p:sp>
      <p:sp>
        <p:nvSpPr>
          <p:cNvPr id="11" name="Shape 7"/>
          <p:cNvSpPr/>
          <p:nvPr/>
        </p:nvSpPr>
        <p:spPr>
          <a:xfrm>
            <a:off x="514350" y="3457575"/>
            <a:ext cx="5905500" cy="657225"/>
          </a:xfrm>
          <a:prstGeom prst="roundRect">
            <a:avLst>
              <a:gd name="adj" fmla="val 17391"/>
            </a:avLst>
          </a:prstGeom>
          <a:solidFill>
            <a:srgbClr val="55635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3589139"/>
            <a:ext cx="266700" cy="2667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478" y="3641527"/>
            <a:ext cx="155972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047750" y="3598664"/>
            <a:ext cx="5223570" cy="3771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과적합(Overfitting)이란?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모델이 훈련 데이터에만 집착해서 외우기만 한 상태. 문제집을 다 외웠는데 변형 문제는 못 푸는 학생과 같아요.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1158478" y="4290120"/>
            <a:ext cx="5265241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원인: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모델이 훈련 데이터의 사소한 노이즈까지 기억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1158478" y="4583013"/>
            <a:ext cx="5265241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해결: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Dropout(0.2) – 학습마다 뉴런 20%를 랜덤으로 꺼서 여러 관점으로 학습</a:t>
            </a:r>
            <a:endParaRPr lang="en-US" sz="1125" dirty="0"/>
          </a:p>
        </p:txBody>
      </p:sp>
      <p:sp>
        <p:nvSpPr>
          <p:cNvPr id="17" name="Text 12"/>
          <p:cNvSpPr txBox="1"/>
          <p:nvPr/>
        </p:nvSpPr>
        <p:spPr>
          <a:xfrm>
            <a:off x="1158478" y="4875907"/>
            <a:ext cx="5265241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효과: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백신처럼 특정 뉴런 의존을 막아 더 똑똑하고 겸손한 AI</a:t>
            </a:r>
            <a:endParaRPr lang="en-US" sz="1125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320" y="1570137"/>
            <a:ext cx="5215830" cy="4406205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645" y="1922562"/>
            <a:ext cx="4587180" cy="34290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66645" y="5351562"/>
            <a:ext cx="4587032" cy="2723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Dropout을 쓰면 훈련 정확도가 살짝 낮아져도 테스트 정확도가 올라가요</a:t>
            </a:r>
            <a:endParaRPr lang="en-US" sz="825" dirty="0"/>
          </a:p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진짜 실력이 됩니다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01217"/>
            <a:ext cx="1394222" cy="27146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7700" y="1467892"/>
            <a:ext cx="116562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3단계 – EarlyStopping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1825079"/>
            <a:ext cx="5463480" cy="9200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똑똑하게</a:t>
            </a:r>
            <a:endParaRPr lang="en-US" sz="3450" dirty="0"/>
          </a:p>
          <a:p>
            <a:pPr algn="l" indent="0" marL="0">
              <a:lnSpc>
                <a:spcPts val="3622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학습 멈추기</a:t>
            </a:r>
            <a:endParaRPr lang="en-US" sz="3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97535"/>
            <a:ext cx="5463480" cy="11572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3021360"/>
            <a:ext cx="5158680" cy="9191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D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callback = EarlyStopping(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D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monitor='</a:t>
            </a:r>
            <a:pPr indent="0" marL="0">
              <a:buNone/>
            </a:pPr>
            <a:r>
              <a:rPr lang="en-US" sz="975" b="1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val_loss</a:t>
            </a:r>
            <a:pPr indent="0" marL="0">
              <a:buNone/>
            </a:pPr>
            <a:r>
              <a:rPr lang="en-US" sz="975" dirty="0">
                <a:solidFill>
                  <a:srgbClr val="ED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',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D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patience=</a:t>
            </a:r>
            <a:pPr indent="0" marL="0">
              <a:buNone/>
            </a:pPr>
            <a:r>
              <a:rPr lang="en-US" sz="975" b="1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pPr indent="0" marL="0">
              <a:buNone/>
            </a:pPr>
            <a:r>
              <a:rPr lang="en-US" sz="975" dirty="0">
                <a:solidFill>
                  <a:srgbClr val="ED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D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restore_best_weights=True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D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975" dirty="0"/>
          </a:p>
        </p:txBody>
      </p:sp>
      <p:sp>
        <p:nvSpPr>
          <p:cNvPr id="7" name="Text 3"/>
          <p:cNvSpPr txBox="1"/>
          <p:nvPr/>
        </p:nvSpPr>
        <p:spPr>
          <a:xfrm>
            <a:off x="2085231" y="4245322"/>
            <a:ext cx="3911650" cy="18112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무작정 오래 ≠ 좋은 것</a:t>
            </a:r>
            <a:pPr indent="0" marL="0">
              <a:buNone/>
            </a:pPr>
            <a:r>
              <a:rPr lang="en-US" sz="1088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val_loss가 3번 연속 안 좋아지면 자동 종료</a:t>
            </a:r>
            <a:endParaRPr lang="en-US" sz="1088" dirty="0"/>
          </a:p>
        </p:txBody>
      </p:sp>
      <p:sp>
        <p:nvSpPr>
          <p:cNvPr id="8" name="Text 4"/>
          <p:cNvSpPr txBox="1"/>
          <p:nvPr/>
        </p:nvSpPr>
        <p:spPr>
          <a:xfrm>
            <a:off x="766763" y="4521696"/>
            <a:ext cx="5230118" cy="18112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시간·자원 절약 + 과적합 방지, 1석 3조 효과</a:t>
            </a:r>
            <a:endParaRPr lang="en-US" sz="1088" dirty="0"/>
          </a:p>
        </p:txBody>
      </p:sp>
      <p:sp>
        <p:nvSpPr>
          <p:cNvPr id="9" name="Text 5"/>
          <p:cNvSpPr txBox="1"/>
          <p:nvPr/>
        </p:nvSpPr>
        <p:spPr>
          <a:xfrm>
            <a:off x="766763" y="4798070"/>
            <a:ext cx="5230118" cy="18112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88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weights 복원으로 가장 잘했던 시점으로 복귀</a:t>
            </a:r>
            <a:endParaRPr lang="en-US" sz="1088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131594"/>
            <a:ext cx="5463480" cy="40124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4850" y="5255419"/>
            <a:ext cx="5158680" cy="1631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비유:</a:t>
            </a:r>
            <a:pPr indent="0" marL="0">
              <a:buNone/>
            </a:pPr>
            <a:r>
              <a:rPr lang="en-US" sz="938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모의고사 성적이 3번 연속 안 오르면 공부 방법을 바꾸는 것처럼, AI도 멈추고 되돌아갑니다.</a:t>
            </a:r>
            <a:endParaRPr lang="en-US" sz="938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80" y="0"/>
            <a:ext cx="5852220" cy="685800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805" y="1603325"/>
            <a:ext cx="5461695" cy="2739033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546032" y="4466183"/>
            <a:ext cx="3449092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val_loss가 다시 올라가는 지점에서 STOP</a:t>
            </a:r>
            <a:endParaRPr lang="en-US" sz="1125" dirty="0"/>
          </a:p>
        </p:txBody>
      </p:sp>
      <p:sp>
        <p:nvSpPr>
          <p:cNvPr id="15" name="Text 8"/>
          <p:cNvSpPr txBox="1"/>
          <p:nvPr/>
        </p:nvSpPr>
        <p:spPr>
          <a:xfrm>
            <a:off x="7546032" y="4709071"/>
            <a:ext cx="3449241" cy="29319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loss는 계속 내려가지만 val_loss가 7~8epoch 이후 상승 → 과적합 신호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EarlyStopping이 이 지점을 잡아냅니다</a:t>
            </a:r>
            <a:endParaRPr lang="en-US" sz="825" dirty="0"/>
          </a:p>
        </p:txBody>
      </p:sp>
      <p:sp>
        <p:nvSpPr>
          <p:cNvPr id="16" name="Shape 9"/>
          <p:cNvSpPr/>
          <p:nvPr/>
        </p:nvSpPr>
        <p:spPr>
          <a:xfrm>
            <a:off x="8610600" y="5095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4E55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8765828" y="5107037"/>
            <a:ext cx="44812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3D4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loss</a:t>
            </a:r>
            <a:endParaRPr lang="en-US" sz="825" dirty="0"/>
          </a:p>
        </p:txBody>
      </p:sp>
      <p:sp>
        <p:nvSpPr>
          <p:cNvPr id="18" name="Shape 11"/>
          <p:cNvSpPr/>
          <p:nvPr/>
        </p:nvSpPr>
        <p:spPr>
          <a:xfrm>
            <a:off x="9401175" y="5095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9C6A3A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556849" y="5107037"/>
            <a:ext cx="37088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C6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 loss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361950"/>
            <a:ext cx="4706987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spc="-82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model.fit() : 진짜 공부 시작!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5637" y="446187"/>
            <a:ext cx="1397347" cy="271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49937" y="512862"/>
            <a:ext cx="116874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4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4단계 – 학습과 결과 분석</a:t>
            </a:r>
            <a:endParaRPr lang="en-US" sz="8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154138"/>
            <a:ext cx="5109865" cy="13001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8650" y="2277963"/>
            <a:ext cx="4843165" cy="1062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= model.fit(</a:t>
            </a:r>
            <a:endParaRPr lang="en-US" sz="938" dirty="0"/>
          </a:p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x_train, y_train,</a:t>
            </a:r>
            <a:endParaRPr lang="en-US" sz="938" dirty="0"/>
          </a:p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indent="0" marL="0">
              <a:buNone/>
            </a:pPr>
            <a:r>
              <a:rPr lang="en-US" sz="938" b="1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validation_split=0.2</a:t>
            </a:r>
            <a:pPr indent="0" marL="0">
              <a:buNone/>
            </a:pPr>
            <a:r>
              <a:rPr lang="en-US" sz="938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lang="en-US" sz="938" dirty="0"/>
          </a:p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epochs=20,</a:t>
            </a:r>
            <a:endParaRPr lang="en-US" sz="938" dirty="0"/>
          </a:p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callbacks=[early_stop]</a:t>
            </a:r>
            <a:endParaRPr lang="en-US" sz="938" dirty="0"/>
          </a:p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938" dirty="0"/>
          </a:p>
        </p:txBody>
      </p:sp>
      <p:sp>
        <p:nvSpPr>
          <p:cNvPr id="7" name="Text 3"/>
          <p:cNvSpPr txBox="1"/>
          <p:nvPr/>
        </p:nvSpPr>
        <p:spPr>
          <a:xfrm>
            <a:off x="2088207" y="3597176"/>
            <a:ext cx="3516957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validation_split=0.2</a:t>
            </a:r>
            <a:pPr indent="0" marL="0">
              <a:buNone/>
            </a:pPr>
            <a:r>
              <a:rPr lang="en-US" sz="1050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훈련 데이터 20%를 중간고사로 사용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714375" y="3860006"/>
            <a:ext cx="4890790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Loss는 내려가고 Accuracy는 올라가야 정상 학습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714375" y="4122837"/>
            <a:ext cx="4890790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matplotlib로 학습 곡선을 그려서 눈으로 확인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14375" y="4385667"/>
            <a:ext cx="4890790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val_loss가 다시 올라가면 과적합 신호 → EarlyStopping이 멈춤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696123"/>
            <a:ext cx="5109865" cy="58102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4819948"/>
            <a:ext cx="285750" cy="2857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0065" y="4879479"/>
            <a:ext cx="163860" cy="2262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1038225" y="4829473"/>
            <a:ext cx="4424065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차트가 말해준다:</a:t>
            </a:r>
            <a:pPr indent="0" marL="0">
              <a:buNone/>
            </a:pPr>
            <a:r>
              <a:rPr lang="en-US" sz="938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train과 val 곡선 간격이 벌어지면 일반화 실패. 간격이 좁고 함께 개선되면 좋은 학습.</a:t>
            </a:r>
            <a:endParaRPr lang="en-US" sz="938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0415" y="1797248"/>
            <a:ext cx="6167735" cy="383664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690" y="2130623"/>
            <a:ext cx="5577185" cy="28575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536186" y="5016698"/>
            <a:ext cx="21996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</a:t>
            </a:r>
            <a:endParaRPr lang="en-US" sz="825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5686" y="5071467"/>
            <a:ext cx="133350" cy="2857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343900" y="5067300"/>
            <a:ext cx="133350" cy="28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1"/>
          <p:cNvSpPr txBox="1"/>
          <p:nvPr/>
        </p:nvSpPr>
        <p:spPr>
          <a:xfrm>
            <a:off x="9080004" y="5016698"/>
            <a:ext cx="14272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</a:t>
            </a:r>
            <a:endParaRPr lang="en-US" sz="825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9504" y="5071467"/>
            <a:ext cx="133350" cy="2857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8886825" y="5067300"/>
            <a:ext cx="133350" cy="28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3"/>
          <p:cNvSpPr txBox="1"/>
          <p:nvPr/>
        </p:nvSpPr>
        <p:spPr>
          <a:xfrm>
            <a:off x="5995690" y="5164336"/>
            <a:ext cx="5577036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12A2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왼쪽 Loss 감소 / 오른쪽 Accuracy 증가 – 4~6 epoch 이후 val_loss가 평탄해지면 학습이 충분하다는 신호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400050"/>
            <a:ext cx="5505450" cy="4600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450" b="1" spc="-86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최종 시험 – 처음 보는 문제 풀기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100" y="494258"/>
            <a:ext cx="1050727" cy="2714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48400" y="560933"/>
            <a:ext cx="82212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5단계 · 모델 평가</a:t>
            </a:r>
            <a:endParaRPr lang="en-US" sz="8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820739"/>
            <a:ext cx="5743873" cy="8453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7700" y="2973139"/>
            <a:ext cx="5439073" cy="559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3E2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훈련에 한 번도 안 쓴 10,000장</a:t>
            </a:r>
            <a:endParaRPr lang="en-US" sz="1013" dirty="0"/>
          </a:p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test_loss, test_acc = model.</a:t>
            </a:r>
            <a:pPr indent="0" marL="0">
              <a:buNone/>
            </a:pPr>
            <a:r>
              <a:rPr lang="en-US" sz="1013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</a:t>
            </a:r>
            <a:pPr indent="0" marL="0">
              <a:buNone/>
            </a:pPr>
            <a:r>
              <a:rPr lang="en-US" sz="1013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(x_test, y_test)</a:t>
            </a:r>
            <a:endParaRPr lang="en-US" sz="1013" dirty="0"/>
          </a:p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print(f</a:t>
            </a:r>
            <a:pPr indent="0" marL="0">
              <a:buNone/>
            </a:pPr>
            <a:r>
              <a:rPr lang="en-US" sz="1013" dirty="0">
                <a:solidFill>
                  <a:srgbClr val="E8C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"정확도: {test_acc*100:.2f}%"</a:t>
            </a:r>
            <a:pPr indent="0" marL="0">
              <a:buNone/>
            </a:pPr>
            <a:r>
              <a:rPr lang="en-US" sz="1013" dirty="0">
                <a:solidFill>
                  <a:srgbClr val="F5F3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013" dirty="0"/>
          </a:p>
        </p:txBody>
      </p:sp>
      <p:sp>
        <p:nvSpPr>
          <p:cNvPr id="7" name="Text 3"/>
          <p:cNvSpPr txBox="1"/>
          <p:nvPr/>
        </p:nvSpPr>
        <p:spPr>
          <a:xfrm>
            <a:off x="1519833" y="3847058"/>
            <a:ext cx="4719340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공정한 평가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테스트 셋은 모델이 전혀 본 적 없는 문제지예요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733425" y="4149477"/>
            <a:ext cx="5505748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훈련 정확도가 높다고 끝이 아니에요, 테스트 점수가 진짜 실력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733425" y="4451896"/>
            <a:ext cx="5505748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구조로 </a:t>
            </a:r>
            <a:pPr indent="0" marL="0"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97~98%</a:t>
            </a:r>
            <a:pPr indent="0" marL="0">
              <a:buNone/>
            </a:pPr>
            <a:r>
              <a:rPr lang="en-US" sz="112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나오면 매우 훌륭한 모델!</a:t>
            </a:r>
            <a:endParaRPr lang="en-US" sz="112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373" y="1975545"/>
            <a:ext cx="5609927" cy="30545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63048" y="2489895"/>
            <a:ext cx="12668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41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MODEL.EVALUATE 결과</a:t>
            </a:r>
            <a:endParaRPr lang="en-US" sz="825" dirty="0"/>
          </a:p>
        </p:txBody>
      </p:sp>
      <p:sp>
        <p:nvSpPr>
          <p:cNvPr id="12" name="Text 7"/>
          <p:cNvSpPr txBox="1"/>
          <p:nvPr/>
        </p:nvSpPr>
        <p:spPr>
          <a:xfrm>
            <a:off x="10533757" y="2489895"/>
            <a:ext cx="94386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41" kern="0" dirty="0">
                <a:solidFill>
                  <a:srgbClr val="9C6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X_TEST 10,000장</a:t>
            </a:r>
            <a:endParaRPr lang="en-US" sz="825" dirty="0"/>
          </a:p>
        </p:txBody>
      </p:sp>
      <p:sp>
        <p:nvSpPr>
          <p:cNvPr id="13" name="Text 8"/>
          <p:cNvSpPr txBox="1"/>
          <p:nvPr/>
        </p:nvSpPr>
        <p:spPr>
          <a:xfrm>
            <a:off x="6763048" y="2770882"/>
            <a:ext cx="1633389" cy="552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spc="-87" kern="0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97.6%</a:t>
            </a:r>
            <a:endParaRPr lang="en-US" sz="4350" dirty="0"/>
          </a:p>
        </p:txBody>
      </p:sp>
      <p:sp>
        <p:nvSpPr>
          <p:cNvPr id="14" name="Text 9"/>
          <p:cNvSpPr txBox="1"/>
          <p:nvPr/>
        </p:nvSpPr>
        <p:spPr>
          <a:xfrm>
            <a:off x="8491686" y="3113782"/>
            <a:ext cx="924371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762750" y="3438525"/>
            <a:ext cx="4714875" cy="9525"/>
          </a:xfrm>
          <a:prstGeom prst="rect">
            <a:avLst/>
          </a:prstGeom>
          <a:solidFill>
            <a:srgbClr val="526363">
              <a:alpha val="12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048" y="3561457"/>
            <a:ext cx="2300139" cy="100191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5923" y="3694807"/>
            <a:ext cx="201438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Accuracy</a:t>
            </a:r>
            <a:endParaRPr lang="en-US" sz="825" dirty="0"/>
          </a:p>
        </p:txBody>
      </p:sp>
      <p:sp>
        <p:nvSpPr>
          <p:cNvPr id="18" name="Text 12"/>
          <p:cNvSpPr txBox="1"/>
          <p:nvPr/>
        </p:nvSpPr>
        <p:spPr>
          <a:xfrm>
            <a:off x="6905923" y="3909120"/>
            <a:ext cx="2014389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98.2%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905923" y="4156770"/>
            <a:ext cx="2014389" cy="28277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많이 본 문제</a:t>
            </a:r>
            <a:endParaRPr lang="en-US" sz="825" dirty="0"/>
          </a:p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높을 수 있음</a:t>
            </a:r>
            <a:endParaRPr lang="en-US" sz="825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486" y="3561457"/>
            <a:ext cx="2300139" cy="100191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320361" y="3694807"/>
            <a:ext cx="201438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Accuracy</a:t>
            </a:r>
            <a:endParaRPr lang="en-US" sz="825" dirty="0"/>
          </a:p>
        </p:txBody>
      </p:sp>
      <p:sp>
        <p:nvSpPr>
          <p:cNvPr id="22" name="Text 15"/>
          <p:cNvSpPr txBox="1"/>
          <p:nvPr/>
        </p:nvSpPr>
        <p:spPr>
          <a:xfrm>
            <a:off x="9320361" y="3909120"/>
            <a:ext cx="2014389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97.6%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9320361" y="4156770"/>
            <a:ext cx="2014389" cy="28277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처음 보는 문제</a:t>
            </a:r>
            <a:endParaRPr lang="en-US" sz="825" dirty="0"/>
          </a:p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진짜 일반화 실력</a:t>
            </a:r>
            <a:endParaRPr lang="en-US" sz="825" dirty="0"/>
          </a:p>
        </p:txBody>
      </p:sp>
      <p:sp>
        <p:nvSpPr>
          <p:cNvPr id="24" name="Text 17"/>
          <p:cNvSpPr txBox="1"/>
          <p:nvPr/>
        </p:nvSpPr>
        <p:spPr>
          <a:xfrm>
            <a:off x="6620173" y="4887218"/>
            <a:ext cx="5000327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22923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두 점수 차이가 작을수록 과적합 없이 잘 일반화된 모델이에요. Dropout과 EarlyStopping이 이 균형을 만들어요.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1402110"/>
            <a:ext cx="5986909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300" b="1" spc="-82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직접 실험해보세요!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2003971"/>
            <a:ext cx="5986909" cy="1771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229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AI는 코드가 아니라 실험이에요. 숫자를 바꿔보며 모델이 어떻게 달라지는지 느껴보세요.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2219176"/>
            <a:ext cx="6177409" cy="88106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476351"/>
            <a:ext cx="266700" cy="2667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5870" y="2533501"/>
            <a:ext cx="15805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57275" y="2476351"/>
            <a:ext cx="5202734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val_loss가 안 줄면?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1057275" y="2685901"/>
            <a:ext cx="5202734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225"/>
              </a:spcBef>
              <a:buNone/>
            </a:pPr>
            <a:r>
              <a:rPr lang="en-US" sz="938" dirty="0">
                <a:solidFill>
                  <a:srgbClr val="232A24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0.2 → 0.3~0.5로 올려보기. 더 많이 끄면 더 겸손해져요. 과적합이 줄고 val 곡선이 안정됩니다.</a:t>
            </a:r>
            <a:endParaRPr lang="en-US" sz="938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966889"/>
            <a:ext cx="6177409" cy="10477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3224064"/>
            <a:ext cx="266700" cy="2667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54559" y="3281214"/>
            <a:ext cx="169366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1057275" y="3224064"/>
            <a:ext cx="5263009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노드 수 바꿔보기</a:t>
            </a:r>
            <a:endParaRPr lang="en-US" sz="1125" dirty="0"/>
          </a:p>
        </p:txBody>
      </p:sp>
      <p:sp>
        <p:nvSpPr>
          <p:cNvPr id="13" name="Text 7"/>
          <p:cNvSpPr txBox="1"/>
          <p:nvPr/>
        </p:nvSpPr>
        <p:spPr>
          <a:xfrm>
            <a:off x="1057275" y="3433614"/>
            <a:ext cx="5263009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225"/>
              </a:spcBef>
              <a:buNone/>
            </a:pPr>
            <a:r>
              <a:rPr lang="en-US" sz="938" dirty="0">
                <a:solidFill>
                  <a:srgbClr val="232A24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128 → 64 / 256. 64는 가볍고 빠름, 256은 더 복잡한 특징 추출. 정확도와 속도의 트레이드오프 체험!</a:t>
            </a:r>
            <a:endParaRPr lang="en-US" sz="938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3881289"/>
            <a:ext cx="6177409" cy="88106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4138464"/>
            <a:ext cx="266700" cy="2667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53666" y="4195614"/>
            <a:ext cx="17025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057275" y="4138464"/>
            <a:ext cx="4508004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활성화 함수 바꾸기</a:t>
            </a:r>
            <a:endParaRPr lang="en-US" sz="1125" dirty="0"/>
          </a:p>
        </p:txBody>
      </p:sp>
      <p:sp>
        <p:nvSpPr>
          <p:cNvPr id="18" name="Text 10"/>
          <p:cNvSpPr txBox="1"/>
          <p:nvPr/>
        </p:nvSpPr>
        <p:spPr>
          <a:xfrm>
            <a:off x="1057275" y="4348014"/>
            <a:ext cx="4508004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225"/>
              </a:spcBef>
              <a:buNone/>
            </a:pPr>
            <a:r>
              <a:rPr lang="en-US" sz="938" dirty="0">
                <a:solidFill>
                  <a:srgbClr val="232A24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relu → tanh, sigmoid로 바꿔서 학습 곡선 차이를 비교. 왜 relu가 기본인지 직접 확인해요.</a:t>
            </a:r>
            <a:endParaRPr lang="en-US" sz="938" dirty="0"/>
          </a:p>
        </p:txBody>
      </p:sp>
      <p:sp>
        <p:nvSpPr>
          <p:cNvPr id="19" name="Shape 11"/>
          <p:cNvSpPr/>
          <p:nvPr/>
        </p:nvSpPr>
        <p:spPr>
          <a:xfrm>
            <a:off x="495300" y="4819650"/>
            <a:ext cx="5991225" cy="638175"/>
          </a:xfrm>
          <a:prstGeom prst="roundRect">
            <a:avLst>
              <a:gd name="adj" fmla="val 20896"/>
            </a:avLst>
          </a:prstGeom>
          <a:solidFill>
            <a:srgbClr val="9C6A3A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952851"/>
            <a:ext cx="304800" cy="3048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40718" y="5010001"/>
            <a:ext cx="211782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6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1066800" y="4952851"/>
            <a:ext cx="466620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도전 과제: 내 손글씨로 물어보기</a:t>
            </a:r>
            <a:endParaRPr lang="en-US" sz="1125" dirty="0"/>
          </a:p>
        </p:txBody>
      </p:sp>
      <p:sp>
        <p:nvSpPr>
          <p:cNvPr id="23" name="Text 14"/>
          <p:cNvSpPr txBox="1"/>
          <p:nvPr/>
        </p:nvSpPr>
        <p:spPr>
          <a:xfrm>
            <a:off x="1066800" y="5162401"/>
            <a:ext cx="466620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종이에 숫자를 쓰고 사진 찍어 28×28로 변환해 model.predict() – 내가 쓴 글자를 AI가 맞출까요?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459" y="1487239"/>
            <a:ext cx="5309741" cy="334268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3684" y="1820614"/>
            <a:ext cx="4757291" cy="267593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863209" y="4706094"/>
            <a:ext cx="4738092" cy="4170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"파라미터를 하나씩 바꿔보는 순간,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당신은 이미 AI 개발자입니다."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697" y="1517452"/>
            <a:ext cx="1040606" cy="30956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09047" y="1603177"/>
            <a:ext cx="77390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정리 &amp; 다음으로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3927723" y="2074664"/>
            <a:ext cx="4336554" cy="5399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3"/>
              </a:lnSpc>
              <a:buNone/>
            </a:pPr>
            <a:r>
              <a:rPr lang="en-US" sz="4050" b="1" spc="-81" kern="0" dirty="0">
                <a:solidFill>
                  <a:srgbClr val="222A2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오늘 배운 핵심 3가지</a:t>
            </a:r>
            <a:endParaRPr lang="en-US" sz="4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690813"/>
            <a:ext cx="3581400" cy="188669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3138488"/>
            <a:ext cx="266700" cy="2667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49586" y="3188494"/>
            <a:ext cx="160139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1343025" y="3500438"/>
            <a:ext cx="28003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데이터는 예절</a:t>
            </a:r>
            <a:endParaRPr lang="en-US" sz="1275" dirty="0"/>
          </a:p>
        </p:txBody>
      </p:sp>
      <p:sp>
        <p:nvSpPr>
          <p:cNvPr id="9" name="Text 4"/>
          <p:cNvSpPr txBox="1"/>
          <p:nvPr/>
        </p:nvSpPr>
        <p:spPr>
          <a:xfrm>
            <a:off x="1343025" y="3799433"/>
            <a:ext cx="28003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정규화(x/255)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계산을 가볍게, </a:t>
            </a:r>
            <a:pPr indent="0" marL="0"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시각화(imshow)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눈으로 검증하는 것이 AI의 기본 예절이에요.</a:t>
            </a:r>
            <a:endParaRPr lang="en-US" sz="97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690813"/>
            <a:ext cx="3581400" cy="188669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25" y="3138488"/>
            <a:ext cx="266700" cy="2667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4790033" y="3188494"/>
            <a:ext cx="172492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13" name="Text 6"/>
          <p:cNvSpPr txBox="1"/>
          <p:nvPr/>
        </p:nvSpPr>
        <p:spPr>
          <a:xfrm>
            <a:off x="4695825" y="3500438"/>
            <a:ext cx="28003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모델은 레고</a:t>
            </a:r>
            <a:endParaRPr lang="en-US" sz="1275" dirty="0"/>
          </a:p>
        </p:txBody>
      </p:sp>
      <p:sp>
        <p:nvSpPr>
          <p:cNvPr id="14" name="Text 7"/>
          <p:cNvSpPr txBox="1"/>
          <p:nvPr/>
        </p:nvSpPr>
        <p:spPr>
          <a:xfrm>
            <a:off x="4695825" y="3799433"/>
            <a:ext cx="28003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펼치고, </a:t>
            </a:r>
            <a:pPr indent="0" marL="0"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128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배우고, </a:t>
            </a:r>
            <a:pPr indent="0" marL="0"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0.2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겸손하게 – 간단하지만 강력한 구조.</a:t>
            </a:r>
            <a:endParaRPr lang="en-US" sz="975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2690813"/>
            <a:ext cx="3581400" cy="188669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625" y="3138488"/>
            <a:ext cx="266700" cy="2667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141940" y="3188494"/>
            <a:ext cx="173385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18" name="Text 9"/>
          <p:cNvSpPr txBox="1"/>
          <p:nvPr/>
        </p:nvSpPr>
        <p:spPr>
          <a:xfrm>
            <a:off x="8048625" y="3500438"/>
            <a:ext cx="28003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학습은 지혜</a:t>
            </a:r>
            <a:endParaRPr lang="en-US" sz="1275" dirty="0"/>
          </a:p>
        </p:txBody>
      </p:sp>
      <p:sp>
        <p:nvSpPr>
          <p:cNvPr id="19" name="Text 10"/>
          <p:cNvSpPr txBox="1"/>
          <p:nvPr/>
        </p:nvSpPr>
        <p:spPr>
          <a:xfrm>
            <a:off x="8048625" y="3799433"/>
            <a:ext cx="28003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EarlyStopping(patience=3)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똑똑하게 멈추고, </a:t>
            </a:r>
            <a:pPr indent="0" marL="0">
              <a:buNone/>
            </a:pPr>
            <a:r>
              <a:rPr lang="en-US" sz="975" b="1" dirty="0">
                <a:solidFill>
                  <a:srgbClr val="556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테스트 셋 10k</a:t>
            </a:r>
            <a:pPr indent="0" marL="0">
              <a:buNone/>
            </a:pPr>
            <a:r>
              <a:rPr lang="en-US" sz="975" dirty="0">
                <a:solidFill>
                  <a:srgbClr val="22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공정하게 평가해야 진짜 실력이에요.</a:t>
            </a:r>
            <a:endParaRPr lang="en-US" sz="975" dirty="0"/>
          </a:p>
        </p:txBody>
      </p:sp>
      <p:sp>
        <p:nvSpPr>
          <p:cNvPr id="20" name="Text 11"/>
          <p:cNvSpPr txBox="1"/>
          <p:nvPr/>
        </p:nvSpPr>
        <p:spPr>
          <a:xfrm>
            <a:off x="4541341" y="4644182"/>
            <a:ext cx="3109168" cy="2628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9C6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여러분도 이제 손글씨 AI 개발자!</a:t>
            </a:r>
            <a:endParaRPr lang="en-US" sz="1650" dirty="0"/>
          </a:p>
        </p:txBody>
      </p:sp>
      <p:sp>
        <p:nvSpPr>
          <p:cNvPr id="21" name="Text 12"/>
          <p:cNvSpPr txBox="1"/>
          <p:nvPr/>
        </p:nvSpPr>
        <p:spPr>
          <a:xfrm>
            <a:off x="3447752" y="5164187"/>
            <a:ext cx="5296346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2292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SM-mnist.ipynb 코드를 직접 실행하고, Dropout 0.3 / Dense 256으로 바꿔보며 실험을 이어가세요.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MNIST-손글씨-숫자-분류-초보자를-위한-완벽-가이드</dc:title>
  <dc:subject>PptxGenJS Presentation</dc:subject>
  <dc:creator>PptxGenJS</dc:creator>
  <cp:lastModifiedBy>PptxGenJS</cp:lastModifiedBy>
  <cp:revision>1</cp:revision>
  <dcterms:created xsi:type="dcterms:W3CDTF">2026-09-24T10:42:55Z</dcterms:created>
  <dcterms:modified xsi:type="dcterms:W3CDTF">2026-09-24T10:42:55Z</dcterms:modified>
</cp:coreProperties>
</file>